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4d54686d5498a" /><Relationship Type="http://schemas.openxmlformats.org/officeDocument/2006/relationships/extended-properties" Target="/docProps/app.xml" Id="R055d3afa32de4267" /><Relationship Type="http://schemas.openxmlformats.org/officeDocument/2006/relationships/officeDocument" Target="/ppt/presentation.xml" Id="Rd106ea7b01ea41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ed353df42452d"/>
  </p:sldMasterIdLst>
  <p:notesMasterIdLst>
    <p:notesMasterId xmlns:r="http://schemas.openxmlformats.org/officeDocument/2006/relationships" r:id="R5ee7bc3cf60e4492"/>
  </p:notesMasterIdLst>
  <p:sldIdLst>
    <p:sldId xmlns:r="http://schemas.openxmlformats.org/officeDocument/2006/relationships" id="256" r:id="R9ae127e4889f495e"/>
    <p:sldId xmlns:r="http://schemas.openxmlformats.org/officeDocument/2006/relationships" id="257" r:id="R4c53aea1b0124d0f"/>
    <p:sldId xmlns:r="http://schemas.openxmlformats.org/officeDocument/2006/relationships" id="258" r:id="Rf6a80f56f4074c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ce1f0fc7304eae" /><Relationship Type="http://schemas.openxmlformats.org/officeDocument/2006/relationships/slideMaster" Target="/ppt/slideMasters/slideMaster1.xml" Id="Rca6ed353df42452d" /><Relationship Type="http://schemas.openxmlformats.org/officeDocument/2006/relationships/notesMaster" Target="/ppt/notesMasters/notesMaster1.xml" Id="R5ee7bc3cf60e4492" /><Relationship Type="http://schemas.openxmlformats.org/officeDocument/2006/relationships/presProps" Target="/ppt/presProps.xml" Id="R38977b67221d4a9d" /><Relationship Type="http://schemas.openxmlformats.org/officeDocument/2006/relationships/viewProps" Target="/ppt/viewProps.xml" Id="R10239bddd0a04049" /><Relationship Type="http://schemas.openxmlformats.org/officeDocument/2006/relationships/tableStyles" Target="/ppt/tableStyles.xml" Id="R9559fd40944c468c" /><Relationship Type="http://schemas.openxmlformats.org/officeDocument/2006/relationships/slide" Target="/ppt/slides/slide1.xml" Id="R9ae127e4889f495e" /><Relationship Type="http://schemas.openxmlformats.org/officeDocument/2006/relationships/slide" Target="/ppt/slides/slide2.xml" Id="R4c53aea1b0124d0f" /><Relationship Type="http://schemas.openxmlformats.org/officeDocument/2006/relationships/slide" Target="/ppt/slides/slide3.xml" Id="Rf6a80f56f4074c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873206b65748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5e5e9ce3794ff0" /><Relationship Type="http://schemas.openxmlformats.org/officeDocument/2006/relationships/notesMaster" Target="/ppt/notesMasters/notesMaster1.xml" Id="R2a81ff877cd94f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403e3db9b0432e" /><Relationship Type="http://schemas.openxmlformats.org/officeDocument/2006/relationships/notesMaster" Target="/ppt/notesMasters/notesMaster1.xml" Id="R4ca022fbfffe48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813ccc50634586" /><Relationship Type="http://schemas.openxmlformats.org/officeDocument/2006/relationships/notesMaster" Target="/ppt/notesMasters/notesMaster1.xml" Id="R7622bb3b3a6e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1c7c7987b40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c7f5288a64231" /><Relationship Type="http://schemas.openxmlformats.org/officeDocument/2006/relationships/slideLayout" Target="/ppt/slideLayouts/slideLayout1.xml" Id="R2f49c634981d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9c634981d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bb4fc4b6847e7" /><Relationship Type="http://schemas.openxmlformats.org/officeDocument/2006/relationships/notesSlide" Target="/ppt/notesSlides/notesSlide1.xml" Id="R36fef792d0ec4c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3b0f169cd4cce" /><Relationship Type="http://schemas.openxmlformats.org/officeDocument/2006/relationships/notesSlide" Target="/ppt/notesSlides/notesSlide2.xml" Id="Rc121704ae4a34f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0e23714de4c49" /><Relationship Type="http://schemas.openxmlformats.org/officeDocument/2006/relationships/notesSlide" Target="/ppt/notesSlides/notesSlide3.xml" Id="Rc19699438d9c4a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AC280-2DE5-4E8D-8B39-F753EF5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9DBC-757B-41C7-99C8-280E3FD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D25DC-6E97-4F40-A2E5-0769CCD2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C1E3C-23BE-485D-A060-D1B9F4BB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前端網站壓力測試結果整理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64AE4-2316-4450-9DEC-870D4C05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3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FE3F1"/>
                </a:solidFill>
                <a:latin typeface="Aptos"/>
                <a:ea typeface="Aptos"/>
                <a:cs typeface="Aptos"/>
              </a:rPr>
              <a:t>Graduation Credit Verification System / Railway 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E6BCE-D6C4-4821-80A6-CB76810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測試設計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42F50-EB88-4FCD-AA93-B901923A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以 Python 標準函式庫壓測腳本直接請求前端登入頁與自動解析出的靜態資源，模擬不同並發使用者下的網站可用性與回應延遲。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ADD43-F799-49AD-B29E-2B0A0243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24618-069C-4820-BCF1-E2661534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9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F9F"/>
                </a:solidFill>
                <a:latin typeface="Aptos Display"/>
                <a:ea typeface="Aptos Display"/>
                <a:cs typeface="Aptos Display"/>
              </a:rPr>
              <a:t>3 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4FEA5-3D8A-4D73-B3F3-CDC883CA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並發情境：10 / 50 / 100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BA3E1-6DE7-43C1-B9AC-22E35F0A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14625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6767A-70DA-4519-8E4B-30BD9F46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0CFA2-4BCF-4A2A-AFEB-CD917268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623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三組測試錯誤率皆為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318B8-9EB2-4A7A-BF56-D3E186E0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CDC88-A073-4F0B-9E7F-B5379278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8607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B3C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BB3C0"/>
                </a:solidFill>
                <a:latin typeface="Aptos Display"/>
                <a:ea typeface="Aptos Display"/>
                <a:cs typeface="Aptos Display"/>
              </a:rPr>
              <a:t>4 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6C33F-92BB-467B-A1F2-F87321E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623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前端目標：HTML + 靜態資源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015EB-06FC-4FFD-8DC9-382401E2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14625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D4515-5031-497F-B737-1187AE04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8607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10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165DB-EC0A-494F-A559-BC2E8094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623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最高壓力組持續 600 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D3E74-0ADA-467B-8F2A-9FDC9ED7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981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CB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6C180-645B-4B48-A9A5-22F523E7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核心判讀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4A1BB-8C09-4A8C-9FF0-11351F7E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067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從 10 users 放大到 100 users，總請求量由 834 增至 82,828，但成功率維持 100%，P95 僅由 759ms 增至 783ms，代表前端靜態頁面服務在本次壓力範圍內呈現穩定。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853E1-8CDD-4B84-97FE-60EC245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Frontend load test summary | 1/3</a:t>
            </a:r>
          </a:p>
        </p:txBody>
      </p:sp>
    </p:spTree>
    <p:extLst>
      <p:ext uri="{BB962C8B-B14F-4D97-AF65-F5344CB8AC3E}">
        <p14:creationId xmlns:p14="http://schemas.microsoft.com/office/powerpoint/2010/main" val="13474773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DC54A9-D32D-4BB7-8D0E-79FF3865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E940F-F6D8-4815-AEB9-49124D0B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壓力放大後，延遲曲線仍維持平緩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2E176-FAFB-4D55-A7E6-9B87F9C8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請求量放大近 100 倍，P95 僅增加約 24ms；失敗率維持 0%。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2916F-B068-4B7C-B3AA-FD339EB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AA3BB-B34E-4394-B33D-B84933C3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B678B-98A4-400C-BF93-754B04BB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38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CC988-F0DE-41F0-992A-D9B2AAB8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38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18738-9A21-4C0B-B3B3-8F4FDEF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38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P95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BE9CF-5B18-4E89-925C-57E311B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38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F5787-A933-4C0A-9CEC-B13861DB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86260-9011-4AE5-B5A8-40E835D4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B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C9FDB-470B-45AD-BA9D-A152966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9F72B-71A1-430F-A8F9-A2B782C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33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834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52277-CB4F-4321-B345-B22BA7D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524.0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A0083-75B8-4E33-8509-5B934D84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33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759.1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65D44-81BA-4A34-8917-3C6806F1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1.67s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07346-BBDE-43C1-B3F6-EF6FBFA8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2B1B9-4A36-4D42-8686-C41CB991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6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74CD6-40E3-4177-A6F6-31376D9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0B1B0-02C7-482B-A89B-16B32C8C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24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20,753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D42A9-CB98-4CEB-A640-1CA16265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523.0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2271D-6647-44F2-AFE2-73AC4F3D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24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772.6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9711C-F839-43AC-8C53-6A56862E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7.47s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A4F8F-CD1F-4F02-8124-4285371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8605F-4E5F-4FBA-BD49-C257C77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57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BE6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DDDCF-5554-4C33-9D80-AD5F36D5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BCCD05-A38A-40FF-89FB-948F9EF0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14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82,828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D63BF-1037-4710-A90A-74BE6B88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524.3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A83DB-FD8D-4C01-A1D6-6865F4B5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14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783.4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38D6F-634F-4B9C-9479-553C1E61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14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3.49s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E627B-09C9-4651-AB10-2D9E1A71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8F66EB-F380-41F3-8DF9-8037FC20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049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P95 latency by 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F3FBD9-F05F-40A5-A8C3-7FD1859F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97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10 users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DC672C-256C-4197-940A-D9F66550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478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70483-BF7D-4C98-A010-74823000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47875"/>
            <a:ext cx="208879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CBC01E-753F-43B8-8E3B-AB73D36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0383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759.1 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1B0698-E5E2-4B7C-969C-938E73E7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2892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50 users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563695-818B-4F96-951F-9A93D64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67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1919F0-E42B-4241-947B-527D75D8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67025"/>
            <a:ext cx="21259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9ECCF5-1C40-4317-8E8D-56D0ABE2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857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772.6 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29AFC0-5F0D-4DE3-B9AD-C0ACF8B6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480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87D69B-E524-446E-984C-9F0A68E0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861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71850F-E909-4DD6-93C5-8F42A2B8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86175"/>
            <a:ext cx="215565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9B92AD-FC54-4853-B99C-499D782A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676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783.4 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B98CE4-D03F-4252-ACF5-D6A10A8F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286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8"/>
          </a:solidFill>
          <a:ln xmlns:a="http://schemas.openxmlformats.org/drawingml/2006/main" w="9525">
            <a:solidFill>
              <a:srgbClr val="BFE7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411B3E-1473-4BDF-91EE-2F933238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觀察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E00D86-7CDB-4678-88FE-B5048534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72075"/>
            <a:ext cx="2781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asset_2 是每組測試中 P95 最高的靜態資源，適合作為後續快取與壓縮優化的優先觀察點。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C291F6-AAE5-4D96-BDE0-ACD65DA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scripts/load_test_api.py frontend test output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9E73F2-58AF-4B18-BCDD-7D443C7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29375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18594852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910ED4-69F7-4A53-98F8-54D940AB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18D9D-11C0-41AB-AB48-97E97FD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結論：前端穩定，下一步聚焦資源優化與後端情境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42B1E-5DFD-4AC3-A9BF-E49D7EFC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本次測試證明 Railway 前端靜態服務在 100 users / 600 秒下仍可維持 0% 錯誤率。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0E965-1AB3-4D86-9815-ADE2BFB3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38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DDD3D-3858-46C0-822F-9487F62B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壓測結論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7F9F9-F4D3-42E3-99E4-9E44BB99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DF7"/>
                </a:solidFill>
                <a:latin typeface="Aptos"/>
                <a:ea typeface="Aptos"/>
                <a:cs typeface="Aptos"/>
              </a:rPr>
              <a:t>前端頁面與靜態資源在測試範圍內未出現失敗請求；平均延遲穩定落在約 523-524ms，P95 穩定低於 800ms。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6C57-CCF4-4438-81C7-8247D86F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19B74-8669-4BBC-9F45-93350A23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240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0% error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D8A17-300E-4DD3-9618-C52CED3D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5912F-D433-4FCD-9718-9836C322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P95 &lt; 800ms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D78B0-0759-4A6B-88E1-3E399033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86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6D286-1237-44BE-B8BB-8D4C8C1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E7251-B796-42A8-B362-4C715A7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1. 靜態資源優化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75406-6295-4141-ABA0-59AEF5CC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asset_2 的 P95 最高，可優先檢查檔案大小、快取標頭、壓縮與 CDN 命中率。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9036A-D4A1-480F-95E9-BAD4B3A3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33750"/>
            <a:ext cx="3286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12B05-E303-4787-B304-F58C0E1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33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F902E-5226-44AF-82C1-CCD452DF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2. 補測後端互動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9514B-20ED-4973-9E18-58F7CB4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本次是網站前端壓測；若要代表完整系統，應補測登入、學分檢核 API 與資料庫查詢。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D5E84-4BE9-4D40-B746-A005F924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3286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DB305-F3F3-4669-8419-DCA7283D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34A78-9161-4E61-BAFA-A188DB3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2714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3. 論文呈現方式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8D030-4538-43A0-8E6C-686755E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建議以 10、50、100 users 三組比較，搭配 P95、錯誤率與總請求量做成實驗表。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7CA73-54BF-43D3-89FA-A94FA57D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38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A4981-8741-4A26-A964-EA75C8BB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可放入論文的一句話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FD429-631F-4830-8A49-7BCE3DCC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864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在逐步提高並發使用者至 100 人的情境下，系統前端維持零錯誤率，顯示靜態頁面服務具備足夠展示負載承受能力。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56EE7A-CB92-493A-837D-1857B69B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Frontend load test summary | 3/3</a:t>
            </a:r>
          </a:p>
        </p:txBody>
      </p:sp>
    </p:spTree>
    <p:extLst>
      <p:ext uri="{BB962C8B-B14F-4D97-AF65-F5344CB8AC3E}">
        <p14:creationId xmlns:p14="http://schemas.microsoft.com/office/powerpoint/2010/main" val="789589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2026-06-11T13:27:33.4130000Z</dcterms:created>
  <dcterms:modified xsi:type="dcterms:W3CDTF">2026-06-11T13:27:33.4130000Z</dcterms:modified>
</coreProperties>
</file>